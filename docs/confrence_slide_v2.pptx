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5" r:id="rId5"/>
    <p:sldId id="259" r:id="rId6"/>
    <p:sldId id="260" r:id="rId7"/>
    <p:sldId id="266" r:id="rId8"/>
    <p:sldId id="267" r:id="rId9"/>
    <p:sldId id="261" r:id="rId10"/>
    <p:sldId id="268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6" r:id="rId19"/>
    <p:sldId id="262" r:id="rId20"/>
    <p:sldId id="279" r:id="rId21"/>
    <p:sldId id="282" r:id="rId22"/>
    <p:sldId id="263" r:id="rId23"/>
    <p:sldId id="264" r:id="rId24"/>
  </p:sldIdLst>
  <p:sldSz cx="12192000" cy="6858000"/>
  <p:notesSz cx="6858000" cy="12192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Noto Sans Symbols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IsXRCWzrL+kiOogotghxaKy3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>
          <a:extLst>
            <a:ext uri="{FF2B5EF4-FFF2-40B4-BE49-F238E27FC236}">
              <a16:creationId xmlns:a16="http://schemas.microsoft.com/office/drawing/2014/main" id="{C3E26DD1-4462-4885-558F-24A3B627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>
            <a:extLst>
              <a:ext uri="{FF2B5EF4-FFF2-40B4-BE49-F238E27FC236}">
                <a16:creationId xmlns:a16="http://schemas.microsoft.com/office/drawing/2014/main" id="{2434ABAB-381C-F34E-4F50-A62019519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3:notes">
            <a:extLst>
              <a:ext uri="{FF2B5EF4-FFF2-40B4-BE49-F238E27FC236}">
                <a16:creationId xmlns:a16="http://schemas.microsoft.com/office/drawing/2014/main" id="{D1393693-9E46-D557-51B3-8D7B2DCA4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>
            <a:extLst>
              <a:ext uri="{FF2B5EF4-FFF2-40B4-BE49-F238E27FC236}">
                <a16:creationId xmlns:a16="http://schemas.microsoft.com/office/drawing/2014/main" id="{61FFE775-63EC-BD95-C99F-2FF68BB83E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028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F0CD554-A13E-4EE6-81D4-8321990D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>
            <a:extLst>
              <a:ext uri="{FF2B5EF4-FFF2-40B4-BE49-F238E27FC236}">
                <a16:creationId xmlns:a16="http://schemas.microsoft.com/office/drawing/2014/main" id="{865922C6-4070-CB6C-BFF0-0EFA971C1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>
            <a:extLst>
              <a:ext uri="{FF2B5EF4-FFF2-40B4-BE49-F238E27FC236}">
                <a16:creationId xmlns:a16="http://schemas.microsoft.com/office/drawing/2014/main" id="{55F0DAFC-2231-0A26-C2DE-BDA4DE712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>
            <a:extLst>
              <a:ext uri="{FF2B5EF4-FFF2-40B4-BE49-F238E27FC236}">
                <a16:creationId xmlns:a16="http://schemas.microsoft.com/office/drawing/2014/main" id="{7B376081-929B-EE13-A678-90F508ADF3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108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DBFC9C4-1EB7-60EE-282A-3E31C355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8eb86bf3_3_60:notes">
            <a:extLst>
              <a:ext uri="{FF2B5EF4-FFF2-40B4-BE49-F238E27FC236}">
                <a16:creationId xmlns:a16="http://schemas.microsoft.com/office/drawing/2014/main" id="{3FF255BB-E51D-A018-99FC-4E5F68D6F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be8eb86bf3_3_60:notes">
            <a:extLst>
              <a:ext uri="{FF2B5EF4-FFF2-40B4-BE49-F238E27FC236}">
                <a16:creationId xmlns:a16="http://schemas.microsoft.com/office/drawing/2014/main" id="{0FA111A5-DCA0-2EA2-E9C2-8DB600C63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be8eb86bf3_3_60:notes">
            <a:extLst>
              <a:ext uri="{FF2B5EF4-FFF2-40B4-BE49-F238E27FC236}">
                <a16:creationId xmlns:a16="http://schemas.microsoft.com/office/drawing/2014/main" id="{6E062838-182D-ABBB-9CFE-03A5B7BDD5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3720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904AD86-5C7A-EA92-8F8B-56530DB8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611F5179-935F-ABFC-9C98-B5DDBC033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541C0D1A-C60E-3709-6678-9B3E796FB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585B2055-7801-45D8-73C4-152AADABCC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7201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CD74281-F267-6661-B044-34A3FA66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19C5453-D9C5-5FF5-3AF0-3EB9677A7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A7817F9D-C2A0-9819-AC72-650EDCECA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A966B97B-7383-3232-B013-A1F1718E0C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347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5F3E561-B95A-8ACE-79C0-4CC8A365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14D4927-D383-AE1C-77A1-AA998C18B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1F01DA7D-2C3F-AE2D-0C21-089D64FCC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A930287-F81B-F3A7-21A0-406ED74C0E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4261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31DEF3C-B53E-B7FE-B2BD-3A0970FD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1C989B4F-8AA1-1AAB-C7AE-184790A01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82B112E2-A34A-5155-2ACE-6C385AE0F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83D5D912-4826-4018-B42F-A6E305B4A8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6981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1A24531-B269-DE34-6C95-4E2F82D0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70C43D1C-1ABB-98D1-AA58-301DA5057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EC01B8D6-C756-E325-FA03-1FA866475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ABD3D76-282A-5523-729C-E2A865D789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935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982BA9B-D4BC-7E0D-493C-79FBDF61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C6A62D2B-6DBB-956D-F9D8-92273A664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8D551AD2-02E3-50A8-4694-1A03E7712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4CF08BB0-1F19-1027-C138-038AB010F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8880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0674E5A-B64A-8870-A20D-9D505193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7C3982A5-C2DF-7C1D-E36C-FED02052A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7FD6FE31-990A-034F-D3EE-6793742FD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DB0281AD-2577-95D5-413A-73F2F35314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519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3242E33-014B-2228-C361-7F01DD42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9E12F165-980A-7B0B-F4B4-AEFBDA922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6B8C8580-2D39-66D2-6FB3-6041E9649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8617CC52-700B-209F-3395-6F9645602D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388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8E9D042-8073-B3F9-9C3E-2F70EE0C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>
            <a:extLst>
              <a:ext uri="{FF2B5EF4-FFF2-40B4-BE49-F238E27FC236}">
                <a16:creationId xmlns:a16="http://schemas.microsoft.com/office/drawing/2014/main" id="{5C1F648D-6A42-55DA-CD6C-9F8FEB779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7:notes">
            <a:extLst>
              <a:ext uri="{FF2B5EF4-FFF2-40B4-BE49-F238E27FC236}">
                <a16:creationId xmlns:a16="http://schemas.microsoft.com/office/drawing/2014/main" id="{CAD0DD60-0E75-6E2B-AC74-B806FD19D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0FB41EE7-AF6A-4599-698C-88EE01FB06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6974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7F5DAA5-A9E3-4C32-762B-67E7B8F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>
            <a:extLst>
              <a:ext uri="{FF2B5EF4-FFF2-40B4-BE49-F238E27FC236}">
                <a16:creationId xmlns:a16="http://schemas.microsoft.com/office/drawing/2014/main" id="{DE63D6E4-9B73-CC1C-3DB0-0EB233E8C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>
            <a:extLst>
              <a:ext uri="{FF2B5EF4-FFF2-40B4-BE49-F238E27FC236}">
                <a16:creationId xmlns:a16="http://schemas.microsoft.com/office/drawing/2014/main" id="{00E3EC30-AA04-77FD-52CB-B36D457D3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>
            <a:extLst>
              <a:ext uri="{FF2B5EF4-FFF2-40B4-BE49-F238E27FC236}">
                <a16:creationId xmlns:a16="http://schemas.microsoft.com/office/drawing/2014/main" id="{75657342-341D-F38B-7C67-2CF88F8967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03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7F5DAA5-A9E3-4C32-762B-67E7B8F9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>
            <a:extLst>
              <a:ext uri="{FF2B5EF4-FFF2-40B4-BE49-F238E27FC236}">
                <a16:creationId xmlns:a16="http://schemas.microsoft.com/office/drawing/2014/main" id="{DE63D6E4-9B73-CC1C-3DB0-0EB233E8C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8:notes">
            <a:extLst>
              <a:ext uri="{FF2B5EF4-FFF2-40B4-BE49-F238E27FC236}">
                <a16:creationId xmlns:a16="http://schemas.microsoft.com/office/drawing/2014/main" id="{00E3EC30-AA04-77FD-52CB-B36D457D3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>
            <a:extLst>
              <a:ext uri="{FF2B5EF4-FFF2-40B4-BE49-F238E27FC236}">
                <a16:creationId xmlns:a16="http://schemas.microsoft.com/office/drawing/2014/main" id="{75657342-341D-F38B-7C67-2CF88F8967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208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e8eb86bf3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be8eb86bf3_3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e8eb86bf3_3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usm-fend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ithub.com/Rasaili-rain/KUS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603737" y="5452110"/>
            <a:ext cx="8952114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Bijan B. Thapa, Manish Bhattarai, Sadit Rasaili, Sameep K. Shrestha, Slok Pradhan,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Suman</a:t>
            </a: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Shrestha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Department</a:t>
            </a:r>
            <a:r>
              <a:rPr kumimoji="0" lang="en-US" sz="1500" b="1" i="0" u="none" strike="noStrike" kern="0" cap="none" spc="0" normalizeH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of Computer Science and Engineering,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baseline="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</a:t>
            </a: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University</a:t>
            </a:r>
            <a:endParaRPr kumimoji="0" lang="en-US" sz="15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" name="Google Shape;1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8345" y="3962055"/>
            <a:ext cx="961784" cy="380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614200" y="1899759"/>
            <a:ext cx="10960534" cy="16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5943"/>
              </a:lnSpc>
              <a:buClr>
                <a:srgbClr val="333333"/>
              </a:buClr>
              <a:buSzPts val="5165"/>
            </a:pPr>
            <a:r>
              <a:rPr lang="en-US" sz="5150" b="1" dirty="0">
                <a:latin typeface="Montserrat" panose="00000500000000000000" pitchFamily="2" charset="0"/>
              </a:rPr>
              <a:t>KU Smart Meter Monitoring and Analytics System</a:t>
            </a:r>
            <a:endParaRPr lang="en-US" sz="5150" b="1" i="1" dirty="0">
              <a:solidFill>
                <a:srgbClr val="333333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14200" y="4217167"/>
            <a:ext cx="10960500" cy="45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Montserrat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24</a:t>
            </a:r>
            <a:r>
              <a:rPr lang="en-US" sz="1600" b="0" i="0" u="none" strike="noStrike" cap="none" baseline="30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-US" sz="1600" dirty="0">
                <a:latin typeface="Montserrat"/>
                <a:ea typeface="Montserrat"/>
                <a:cs typeface="Montserrat"/>
                <a:sym typeface="Montserrat"/>
              </a:rPr>
              <a:t>February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202</a:t>
            </a:r>
            <a:r>
              <a:rPr lang="en-US" sz="1600" dirty="0"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6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" name="Google Shape;20;p1" title="ceel_logo.png"/>
          <p:cNvPicPr preferRelativeResize="0"/>
          <p:nvPr/>
        </p:nvPicPr>
        <p:blipFill rotWithShape="1">
          <a:blip r:embed="rId4">
            <a:alphaModFix/>
          </a:blip>
          <a:srcRect l="10304" r="10304"/>
          <a:stretch/>
        </p:blipFill>
        <p:spPr>
          <a:xfrm>
            <a:off x="1666306" y="481018"/>
            <a:ext cx="1514399" cy="150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3484504" y="630637"/>
            <a:ext cx="6413400" cy="105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Conference on Computer, Electrical, Electronics and Communication Engineering (</a:t>
            </a:r>
            <a:r>
              <a:rPr lang="en-US" sz="20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Khwopa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CEEL 2026)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sp>
        <p:nvSpPr>
          <p:cNvPr id="12" name="Google Shape;16;p1"/>
          <p:cNvSpPr/>
          <p:nvPr/>
        </p:nvSpPr>
        <p:spPr>
          <a:xfrm>
            <a:off x="5026329" y="5701495"/>
            <a:ext cx="8952114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Samundra</a:t>
            </a:r>
            <a:r>
              <a:rPr lang="en-US" sz="1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Gurung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Department of Electrical and Electronics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  <a:tabLst/>
              <a:defRPr/>
            </a:pPr>
            <a:r>
              <a:rPr lang="en-US" sz="15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 University</a:t>
            </a:r>
            <a:endParaRPr sz="1500" b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Presentation Outlines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552225" y="1305275"/>
            <a:ext cx="8786100" cy="3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Conclusion and Future Works</a:t>
            </a:r>
            <a:endParaRPr sz="2500" b="0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6576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Montserrat"/>
              <a:buAutoNum type="arabicPeriod"/>
            </a:pPr>
            <a:r>
              <a:rPr lang="en-US" sz="25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25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821725" y="5336550"/>
            <a:ext cx="8545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4" name="Google Shape;34;p2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1. Introduction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6387" y="1024252"/>
            <a:ext cx="10918887" cy="4747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Modern energy systems require real-time monitoring for efficiency and reliability.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Traditional analog meters only provide cumulative readings.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Smart meters provide high-resolution data including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Energy consumption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Voltage levels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Load variations</a:t>
            </a:r>
          </a:p>
          <a:p>
            <a:pPr marL="38100" lvl="2"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Outage events</a:t>
            </a:r>
          </a:p>
          <a:p>
            <a:pPr marL="285750" marR="0" lvl="0" indent="-247650" algn="l" rtl="0">
              <a:spcBef>
                <a:spcPts val="195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This project develops a real-time smart meter analytics platform for Kathmandu University.</a:t>
            </a:r>
            <a:endParaRPr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>
          <a:extLst>
            <a:ext uri="{FF2B5EF4-FFF2-40B4-BE49-F238E27FC236}">
              <a16:creationId xmlns:a16="http://schemas.microsoft.com/office/drawing/2014/main" id="{2FE30801-B55A-4A46-E1FC-00291CD1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>
            <a:extLst>
              <a:ext uri="{FF2B5EF4-FFF2-40B4-BE49-F238E27FC236}">
                <a16:creationId xmlns:a16="http://schemas.microsoft.com/office/drawing/2014/main" id="{68D6ED80-DF79-B926-9860-C911F14AC2C7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1. Introduction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8982A49A-1580-9030-B344-34C4309415E6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DB8D32DD-FFA1-4793-4469-4D53701D38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EC504D67-EF31-EEC1-9642-E7E484574CCE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3" title="ceel_logo.png">
            <a:extLst>
              <a:ext uri="{FF2B5EF4-FFF2-40B4-BE49-F238E27FC236}">
                <a16:creationId xmlns:a16="http://schemas.microsoft.com/office/drawing/2014/main" id="{4E1F6119-9A5D-5CB0-36F6-4E218BF0D7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8;g3be8eb86bf3_3_60">
            <a:extLst>
              <a:ext uri="{FF2B5EF4-FFF2-40B4-BE49-F238E27FC236}">
                <a16:creationId xmlns:a16="http://schemas.microsoft.com/office/drawing/2014/main" id="{2B2F4727-CF20-5DE4-7B59-179DA7F4D725}"/>
              </a:ext>
            </a:extLst>
          </p:cNvPr>
          <p:cNvSpPr txBox="1"/>
          <p:nvPr/>
        </p:nvSpPr>
        <p:spPr>
          <a:xfrm>
            <a:off x="961774" y="1125700"/>
            <a:ext cx="10265399" cy="363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Objectives:</a:t>
            </a:r>
          </a:p>
          <a:p>
            <a:pPr marL="13970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Develop a scalable web-based smart meter monitoring platform.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Integrate secure API-based real-time data acquisition.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Provide interactive dashboards for visualization and analysis.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Implement AI-based forecasting for energy prediction.</a:t>
            </a:r>
          </a:p>
          <a:p>
            <a:pPr marL="38100" lvl="0">
              <a:lnSpc>
                <a:spcPct val="113500"/>
              </a:lnSpc>
              <a:spcBef>
                <a:spcPts val="1950"/>
              </a:spcBef>
              <a:buClr>
                <a:schemeClr val="dk1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Design a modular and scalable system architecture.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4498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319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1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61783" y="1203388"/>
            <a:ext cx="10572991" cy="4838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Kathmandu University operates multiple facilities with significant energy demand.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 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No centralized real-time monitoring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Limited visibility into voltage instability and outages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No predictive insights for peak load management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Difficulty in data-driven energy planning</a:t>
            </a:r>
          </a:p>
          <a:p>
            <a:pPr marL="457200" indent="-317500">
              <a:lnSpc>
                <a:spcPct val="140000"/>
              </a:lnSpc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Research Gap: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Existing IoT platforms are generic and not tailored for smart meter analytics in academic environments.</a:t>
            </a:r>
          </a:p>
          <a:p>
            <a:pPr marL="457200" indent="-317500">
              <a:lnSpc>
                <a:spcPct val="140000"/>
              </a:lnSpc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Need: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A domain-specific, customizable, and scalable smart meter monitoring and analytics system</a:t>
            </a:r>
          </a:p>
        </p:txBody>
      </p:sp>
      <p:sp>
        <p:nvSpPr>
          <p:cNvPr id="56" name="Google Shape;56;p4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4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/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be8eb86bf3_3_60"/>
          <p:cNvSpPr txBox="1"/>
          <p:nvPr/>
        </p:nvSpPr>
        <p:spPr>
          <a:xfrm>
            <a:off x="4755142" y="6045579"/>
            <a:ext cx="28233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1- Context Diagram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g3be8eb86bf3_3_60"/>
          <p:cNvSpPr txBox="1"/>
          <p:nvPr/>
        </p:nvSpPr>
        <p:spPr>
          <a:xfrm>
            <a:off x="961784" y="936952"/>
            <a:ext cx="7860600" cy="5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</a:p>
        </p:txBody>
      </p:sp>
      <p:sp>
        <p:nvSpPr>
          <p:cNvPr id="69" name="Google Shape;69;g3be8eb86bf3_3_60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98D745-EDD9-1CB9-DBF1-A423A1D51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837" y="1361685"/>
            <a:ext cx="8316113" cy="4768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4AE1EDD-7B6A-3AAD-9574-7DA391F7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>
            <a:extLst>
              <a:ext uri="{FF2B5EF4-FFF2-40B4-BE49-F238E27FC236}">
                <a16:creationId xmlns:a16="http://schemas.microsoft.com/office/drawing/2014/main" id="{18728619-8E42-6897-CF1F-3AD7636BD4F4}"/>
              </a:ext>
            </a:extLst>
          </p:cNvPr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>
            <a:extLst>
              <a:ext uri="{FF2B5EF4-FFF2-40B4-BE49-F238E27FC236}">
                <a16:creationId xmlns:a16="http://schemas.microsoft.com/office/drawing/2014/main" id="{A56DA652-2D5C-99BD-258E-9CE8897A2281}"/>
              </a:ext>
            </a:extLst>
          </p:cNvPr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>
            <a:extLst>
              <a:ext uri="{FF2B5EF4-FFF2-40B4-BE49-F238E27FC236}">
                <a16:creationId xmlns:a16="http://schemas.microsoft.com/office/drawing/2014/main" id="{B85CBE85-7974-2614-CDCA-9238D1990C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be8eb86bf3_3_60">
            <a:extLst>
              <a:ext uri="{FF2B5EF4-FFF2-40B4-BE49-F238E27FC236}">
                <a16:creationId xmlns:a16="http://schemas.microsoft.com/office/drawing/2014/main" id="{082B8D93-AEAC-B26B-575A-634CD862D2DA}"/>
              </a:ext>
            </a:extLst>
          </p:cNvPr>
          <p:cNvSpPr txBox="1"/>
          <p:nvPr/>
        </p:nvSpPr>
        <p:spPr>
          <a:xfrm>
            <a:off x="961774" y="1125700"/>
            <a:ext cx="10773025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Development Approach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Agile development methodology adopted.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Phases: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i. Planning and requirement analysis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Research on smart meter APIs and forecasting models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Frontend development using React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iv. Backend development using 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FastAPI</a:t>
            </a: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v. Database design using PostgreSQL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vi. Model training using Random Forest regression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vii. System testing and validation</a:t>
            </a:r>
          </a:p>
        </p:txBody>
      </p:sp>
      <p:sp>
        <p:nvSpPr>
          <p:cNvPr id="69" name="Google Shape;69;g3be8eb86bf3_3_60">
            <a:extLst>
              <a:ext uri="{FF2B5EF4-FFF2-40B4-BE49-F238E27FC236}">
                <a16:creationId xmlns:a16="http://schemas.microsoft.com/office/drawing/2014/main" id="{8C15C24D-B84A-1C0C-1683-7926507DC308}"/>
              </a:ext>
            </a:extLst>
          </p:cNvPr>
          <p:cNvSpPr/>
          <p:nvPr/>
        </p:nvSpPr>
        <p:spPr>
          <a:xfrm>
            <a:off x="970410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>
            <a:extLst>
              <a:ext uri="{FF2B5EF4-FFF2-40B4-BE49-F238E27FC236}">
                <a16:creationId xmlns:a16="http://schemas.microsoft.com/office/drawing/2014/main" id="{C42883E1-0499-90CF-6C3C-9CD7C80FBC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67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6AAFB6E-D44C-0EA6-F6A1-635C590F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8eb86bf3_3_60">
            <a:extLst>
              <a:ext uri="{FF2B5EF4-FFF2-40B4-BE49-F238E27FC236}">
                <a16:creationId xmlns:a16="http://schemas.microsoft.com/office/drawing/2014/main" id="{3D91DAAD-3D96-0D29-1D54-DA9328486ABD}"/>
              </a:ext>
            </a:extLst>
          </p:cNvPr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Methodology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64" name="Google Shape;64;g3be8eb86bf3_3_60">
            <a:extLst>
              <a:ext uri="{FF2B5EF4-FFF2-40B4-BE49-F238E27FC236}">
                <a16:creationId xmlns:a16="http://schemas.microsoft.com/office/drawing/2014/main" id="{DE53E29E-3AFD-81EA-D505-4F8F4F121DD0}"/>
              </a:ext>
            </a:extLst>
          </p:cNvPr>
          <p:cNvSpPr/>
          <p:nvPr/>
        </p:nvSpPr>
        <p:spPr>
          <a:xfrm>
            <a:off x="11874706" y="6517935"/>
            <a:ext cx="123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be8eb86bf3_3_60">
            <a:extLst>
              <a:ext uri="{FF2B5EF4-FFF2-40B4-BE49-F238E27FC236}">
                <a16:creationId xmlns:a16="http://schemas.microsoft.com/office/drawing/2014/main" id="{2299502A-9CB6-500F-8C03-9953545C1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be8eb86bf3_3_60">
            <a:extLst>
              <a:ext uri="{FF2B5EF4-FFF2-40B4-BE49-F238E27FC236}">
                <a16:creationId xmlns:a16="http://schemas.microsoft.com/office/drawing/2014/main" id="{D8A18F9B-2BDC-646A-5278-2BC908C54EE9}"/>
              </a:ext>
            </a:extLst>
          </p:cNvPr>
          <p:cNvSpPr txBox="1"/>
          <p:nvPr/>
        </p:nvSpPr>
        <p:spPr>
          <a:xfrm>
            <a:off x="971299" y="1125700"/>
            <a:ext cx="10468225" cy="445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Model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Model Used: Random Forest Regression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Features: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Hour of day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Day of week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Month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iv. Historical lag values	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Dataset &amp; Split: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	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Total Dataset Size: 8,355 samples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ii. Training Samples: 6,684    (80%)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	iii. Testing Samples:   1,671      (20%)</a:t>
            </a:r>
          </a:p>
        </p:txBody>
      </p:sp>
      <p:sp>
        <p:nvSpPr>
          <p:cNvPr id="69" name="Google Shape;69;g3be8eb86bf3_3_60">
            <a:extLst>
              <a:ext uri="{FF2B5EF4-FFF2-40B4-BE49-F238E27FC236}">
                <a16:creationId xmlns:a16="http://schemas.microsoft.com/office/drawing/2014/main" id="{7D81D47F-773E-8BCE-6165-D72DF00D2CA3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g3be8eb86bf3_3_60" title="ceel_logo.png">
            <a:extLst>
              <a:ext uri="{FF2B5EF4-FFF2-40B4-BE49-F238E27FC236}">
                <a16:creationId xmlns:a16="http://schemas.microsoft.com/office/drawing/2014/main" id="{85B1E2A8-2F0E-A057-5CA4-63063D8E0E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8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51624" y="1183893"/>
            <a:ext cx="10445051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System Features and Implementation 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Real-time smart meter data acquisition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Interactive dashboard with graphs and trends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Voltage and current analysis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Billing and cost analysis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Geographical meter mapping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vi. Role-based access control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vii. ML-based 24-hour forecasting</a:t>
            </a:r>
          </a:p>
          <a:p>
            <a:pPr marL="139700" lvl="0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https://kusm-fend.vercel.app/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https://github.com/Rasaili-rain/KUSM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78" name="Google Shape;78;p7"/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/>
          <p:cNvPicPr preferRelativeResize="0"/>
          <p:nvPr/>
        </p:nvPicPr>
        <p:blipFill rotWithShape="1">
          <a:blip r:embed="rId5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FB923573-ACE9-E366-B116-3C6CAE2F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3337FFDB-DF0C-5AE9-240A-EE3800504F42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BE372DAB-2B4D-1D60-3327-40CCE6DB139C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75440362-F1A0-5E6A-E1DD-61B4F34A24D3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AAA6826-F148-36AA-ACC4-56B45214B8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8FE3A89D-F714-F61F-2FB5-35109A52AB13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9268E361-FB6D-730F-D791-3711D8AD7F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ED7487-A46E-48F3-726D-69EA71B20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08" y="975657"/>
            <a:ext cx="10889994" cy="5108785"/>
          </a:xfrm>
          <a:prstGeom prst="rect">
            <a:avLst/>
          </a:prstGeom>
        </p:spPr>
      </p:pic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2B179DF2-4244-321A-64CB-4461B9E3BF3B}"/>
              </a:ext>
            </a:extLst>
          </p:cNvPr>
          <p:cNvSpPr txBox="1"/>
          <p:nvPr/>
        </p:nvSpPr>
        <p:spPr>
          <a:xfrm>
            <a:off x="4682826" y="5949544"/>
            <a:ext cx="28233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2- Main Dashboard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5450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87227B9F-5170-F28F-F256-BAD2A930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5C3FA40F-46C5-7451-E877-4E62568B0201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0BCA8754-DF79-0CF4-FFA8-B074E8300AEA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1057807A-1F33-7F3D-B63D-A4655BA3CBE3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3B876DCA-5A3E-5962-651B-36C49582E4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9B430A57-7171-4F5B-F3CC-EFF480FC76C9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EFD64B97-B76B-D431-DB3A-E8E13B7875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34B5EF4B-8482-FB86-737E-AB8378421C9B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3.1.- Individual Meter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8559D-F955-FB41-7996-1263CDC69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07" y="872806"/>
            <a:ext cx="9012688" cy="507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3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1D1848FF-075C-9311-77EB-5C476102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F7EB87F1-7DBD-9F08-B672-BB5151F9E8CC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FC3CD0E6-9693-34C4-A717-1AEA8F890B39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B61DD489-2D5D-5FC1-8027-869F951B63B6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52C510E1-3296-2D69-DDF4-F2B0B7553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EEEAFD15-DF19-F943-980C-2E8856562966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557956A5-28FE-B379-02C9-955D7345C955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4- Analysis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144D5-02FE-A98E-1069-B8C3D6BF9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47" y="817407"/>
            <a:ext cx="11059252" cy="5084119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B4425751-D5B8-3036-E362-C9BB904F79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38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D6C9ECCA-DADC-D43A-4AEE-82AE6080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5344F2FB-C1C2-8859-C652-25A3576341A0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A244D3E3-65A9-A0AD-78B8-03DACDB38DB0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12B27114-B200-0858-57DA-CAA3B2933625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38D0002-B396-40EF-7063-54925723F8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BCB8E69A-C339-F0DA-2290-72D79E5FE7FC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07D6CE66-FA3B-E83B-C888-44A133444B18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5- Prediction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EC6B0C-5C74-00DC-8540-5D3C28FA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14" y="825436"/>
            <a:ext cx="11327514" cy="5207128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3C226F7F-23B9-4677-1BAD-93A812A6B0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863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23035DB0-2FAB-2019-5C97-ACF67426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C85D49ED-DB21-E9A7-E23B-D3C8AD480232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D8C441DE-26C8-8FDD-6D0F-8C19886D28AD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BBE735BE-49F2-CD4E-7D55-C4DB170DBECF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63B744AA-E8A6-847C-EB86-B8F800EB9E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7BDADF3D-5F8A-45BF-9BC2-C5F8B1A2E2AF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183E2DEA-80BA-3595-63C0-D3C117A393E0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6 – Billing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B56D3-EC84-A90F-68D9-CE31A0996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56" y="863292"/>
            <a:ext cx="11108672" cy="5131415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FA7B383D-7505-1437-FEBD-2313B55FC6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7231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BB63164A-90C6-4E3C-D853-8F26FBAE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8F3A9E0C-B02A-6657-91F4-AF131C98A367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7ABF48D9-A5C2-D9FF-2FA2-A2CDEFEBC0BB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4548DC56-4585-887B-274C-418363D68005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25E96184-9B46-9320-1DF5-79D52101D0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66D7AD33-2CFB-1327-AB30-EA4BD7F42127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9A0D31DF-DE55-66CD-CFF0-48E4850F4CCF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7- Maps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D3603-CAD7-F014-84BF-BCBD8BF7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7" y="952499"/>
            <a:ext cx="11105601" cy="5095668"/>
          </a:xfrm>
          <a:prstGeom prst="rect">
            <a:avLst/>
          </a:prstGeom>
        </p:spPr>
      </p:pic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EFA29098-A356-8CF5-FFF4-827A8C6BFA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0597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C7AFCDF5-8FC6-938F-62E4-A523574F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96132F45-3D40-89C3-B0E5-A997394BE1C6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6F5A163A-344F-00EA-2226-DAAA7C6026A5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DD0076F9-C1BE-EFE1-F3D6-F296C23DB391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9668F337-A098-A2B7-6BE8-EC2D69589B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FCB6FC9C-F34F-859A-EF60-0935FADB4A48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277EC6AC-B8BC-7DA3-DC9E-EFBB2D3AEAD8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8. - Admin Dashboard</a:t>
            </a: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63E2466B-2929-8E4F-128B-1DE9C2B284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25A4B3-C48F-991E-8E26-BF13FC761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87" y="1048534"/>
            <a:ext cx="9140777" cy="49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CF469963-1007-541E-B5C2-A3826309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A21DE576-65A8-B79B-38EC-4D3AC1D9CD11}"/>
              </a:ext>
            </a:extLst>
          </p:cNvPr>
          <p:cNvSpPr/>
          <p:nvPr/>
        </p:nvSpPr>
        <p:spPr>
          <a:xfrm>
            <a:off x="0" y="362900"/>
            <a:ext cx="12188952" cy="58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51EEE8A0-3680-FBDB-6631-0747F53F3B83}"/>
              </a:ext>
            </a:extLst>
          </p:cNvPr>
          <p:cNvSpPr/>
          <p:nvPr/>
        </p:nvSpPr>
        <p:spPr>
          <a:xfrm>
            <a:off x="1059244" y="1238282"/>
            <a:ext cx="8839135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.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FF0BA3E1-B6FB-2525-DD13-C97BEFFE0CCB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17569A70-9387-DF01-2275-4475DA6981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7B786216-6EC3-A452-3480-DFA2B80B060F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66;g3be8eb86bf3_3_60">
            <a:extLst>
              <a:ext uri="{FF2B5EF4-FFF2-40B4-BE49-F238E27FC236}">
                <a16:creationId xmlns:a16="http://schemas.microsoft.com/office/drawing/2014/main" id="{5F76E36C-D47A-E902-12AE-480513D19D6C}"/>
              </a:ext>
            </a:extLst>
          </p:cNvPr>
          <p:cNvSpPr txBox="1"/>
          <p:nvPr/>
        </p:nvSpPr>
        <p:spPr>
          <a:xfrm>
            <a:off x="4682825" y="5949544"/>
            <a:ext cx="374679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9. – Super Admin Dashboard</a:t>
            </a: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96E89F60-4F1B-8609-E827-138669BEDD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5321A1-CCFE-B40D-1A02-40B7AEBD4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82" y="1098043"/>
            <a:ext cx="10297851" cy="485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37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2C3BB5A9-B68D-542E-B256-5AC47EFF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>
            <a:extLst>
              <a:ext uri="{FF2B5EF4-FFF2-40B4-BE49-F238E27FC236}">
                <a16:creationId xmlns:a16="http://schemas.microsoft.com/office/drawing/2014/main" id="{FF5108C3-A9C3-E020-9081-61E8FC3B412E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Results and Discussions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77" name="Google Shape;77;p7">
            <a:extLst>
              <a:ext uri="{FF2B5EF4-FFF2-40B4-BE49-F238E27FC236}">
                <a16:creationId xmlns:a16="http://schemas.microsoft.com/office/drawing/2014/main" id="{83809CC6-1021-D2EB-E0B1-497C32E7928B}"/>
              </a:ext>
            </a:extLst>
          </p:cNvPr>
          <p:cNvSpPr/>
          <p:nvPr/>
        </p:nvSpPr>
        <p:spPr>
          <a:xfrm>
            <a:off x="193501" y="1183892"/>
            <a:ext cx="6592619" cy="5203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Visualization Results :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Clear visualization of consumption trends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Voltage stability monitoring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Peak load identification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Monthly and daily billing summaries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v. Improved transparency in energy usage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Prediction Results : 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Predictions closely follow actual values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Model captures non-linear consumption 	iii. Useful for anticipating peak demand</a:t>
            </a: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Supports proactive energy management.</a:t>
            </a:r>
          </a:p>
          <a:p>
            <a:pPr marL="139700"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8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9700" lvl="1">
              <a:lnSpc>
                <a:spcPct val="140000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</p:txBody>
      </p:sp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336BAE43-9A59-9DEB-A62C-19F2B8B3C950}"/>
              </a:ext>
            </a:extLst>
          </p:cNvPr>
          <p:cNvSpPr/>
          <p:nvPr/>
        </p:nvSpPr>
        <p:spPr>
          <a:xfrm>
            <a:off x="11884228" y="6517935"/>
            <a:ext cx="114271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B700444C-CFDF-F097-CC2A-E7143C3925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67D20EB9-CA82-AEA3-AC77-D1394E84B7A3}"/>
              </a:ext>
            </a:extLst>
          </p:cNvPr>
          <p:cNvSpPr/>
          <p:nvPr/>
        </p:nvSpPr>
        <p:spPr>
          <a:xfrm>
            <a:off x="991087" y="6555255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lang="en-US"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F84F75-4FC9-F4CA-6385-BE01DD8030A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8424" r="14615"/>
          <a:stretch>
            <a:fillRect/>
          </a:stretch>
        </p:blipFill>
        <p:spPr>
          <a:xfrm>
            <a:off x="6594746" y="918354"/>
            <a:ext cx="5212379" cy="5118036"/>
          </a:xfrm>
          <a:prstGeom prst="rect">
            <a:avLst/>
          </a:prstGeom>
        </p:spPr>
      </p:pic>
      <p:sp>
        <p:nvSpPr>
          <p:cNvPr id="4" name="Google Shape;66;g3be8eb86bf3_3_60">
            <a:extLst>
              <a:ext uri="{FF2B5EF4-FFF2-40B4-BE49-F238E27FC236}">
                <a16:creationId xmlns:a16="http://schemas.microsoft.com/office/drawing/2014/main" id="{336708AE-3D69-2C48-37B9-8F0F02065EBE}"/>
              </a:ext>
            </a:extLst>
          </p:cNvPr>
          <p:cNvSpPr txBox="1"/>
          <p:nvPr/>
        </p:nvSpPr>
        <p:spPr>
          <a:xfrm>
            <a:off x="6786120" y="5877530"/>
            <a:ext cx="5212379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Montserrat"/>
                <a:ea typeface="Montserrat"/>
                <a:cs typeface="Montserrat"/>
                <a:sym typeface="Montserrat"/>
              </a:rPr>
              <a:t>Figure 10 - R^2 Error Plot : Actual vs Predicted Power  </a:t>
            </a:r>
            <a:endParaRPr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7" title="ceel_logo.png">
            <a:extLst>
              <a:ext uri="{FF2B5EF4-FFF2-40B4-BE49-F238E27FC236}">
                <a16:creationId xmlns:a16="http://schemas.microsoft.com/office/drawing/2014/main" id="{0CC31964-0592-641F-28E7-8C3490AEE6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549" r="10542"/>
          <a:stretch/>
        </p:blipFill>
        <p:spPr>
          <a:xfrm>
            <a:off x="11105676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0393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5862"/>
              </a:lnSpc>
              <a:buClr>
                <a:srgbClr val="333333"/>
              </a:buClr>
              <a:buSzPts val="3190"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5. Conclusion and Future Works</a:t>
            </a:r>
            <a:endParaRPr lang="en-US" sz="1800" b="1" dirty="0">
              <a:solidFill>
                <a:schemeClr val="dk1"/>
              </a:solidFill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133475" y="1722755"/>
            <a:ext cx="9589135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Developed a scalable real-time smart meter monitoring system.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Integrated IoT APIs with a web-based analytics dashboard.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Implemented AI-based forecasting for predictive insights.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Enabled role-based secure access control.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Provides a foundation for smart grid research and campus-wide energy optimization.</a:t>
            </a:r>
          </a:p>
        </p:txBody>
      </p:sp>
      <p:sp>
        <p:nvSpPr>
          <p:cNvPr id="90" name="Google Shape;90;p8"/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5617DB7A-BEFA-FA18-4D6D-1500642F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>
            <a:extLst>
              <a:ext uri="{FF2B5EF4-FFF2-40B4-BE49-F238E27FC236}">
                <a16:creationId xmlns:a16="http://schemas.microsoft.com/office/drawing/2014/main" id="{8980DDAC-8A5C-E35F-F3A5-7F9E479441C8}"/>
              </a:ext>
            </a:extLst>
          </p:cNvPr>
          <p:cNvSpPr/>
          <p:nvPr/>
        </p:nvSpPr>
        <p:spPr>
          <a:xfrm>
            <a:off x="0" y="354275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Conclusion and Future Works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89" name="Google Shape;89;p8">
            <a:extLst>
              <a:ext uri="{FF2B5EF4-FFF2-40B4-BE49-F238E27FC236}">
                <a16:creationId xmlns:a16="http://schemas.microsoft.com/office/drawing/2014/main" id="{A9EA584D-6A17-6C69-F7AB-E8829CBC7AAC}"/>
              </a:ext>
            </a:extLst>
          </p:cNvPr>
          <p:cNvSpPr/>
          <p:nvPr/>
        </p:nvSpPr>
        <p:spPr>
          <a:xfrm>
            <a:off x="1133475" y="1722755"/>
            <a:ext cx="9589135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Limitations: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Dependence on external API availability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Forecast accuracy depends on historical data quality</a:t>
            </a:r>
          </a:p>
          <a:p>
            <a:pPr marL="139700" lvl="1">
              <a:lnSpc>
                <a:spcPct val="125925"/>
              </a:lnSpc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Web-based access only</a:t>
            </a:r>
          </a:p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Future Enhancements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i="1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Real-time anomaly detection and automated alerts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ii. Mobile application support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iii. Advanced deep learning forecasting models</a:t>
            </a:r>
          </a:p>
          <a:p>
            <a:pPr marL="139700" marR="0" lvl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iv. Energy optimization and sustainability recommendations</a:t>
            </a:r>
          </a:p>
        </p:txBody>
      </p:sp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3CD7050E-94D4-0726-72D4-D93AF3D9585F}"/>
              </a:ext>
            </a:extLst>
          </p:cNvPr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>
            <a:extLst>
              <a:ext uri="{FF2B5EF4-FFF2-40B4-BE49-F238E27FC236}">
                <a16:creationId xmlns:a16="http://schemas.microsoft.com/office/drawing/2014/main" id="{9D4B9546-1A00-DC74-926E-8CE922EA21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>
            <a:extLst>
              <a:ext uri="{FF2B5EF4-FFF2-40B4-BE49-F238E27FC236}">
                <a16:creationId xmlns:a16="http://schemas.microsoft.com/office/drawing/2014/main" id="{6ADE2074-0F47-E7D0-5B05-9D3348081984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>
            <a:extLst>
              <a:ext uri="{FF2B5EF4-FFF2-40B4-BE49-F238E27FC236}">
                <a16:creationId xmlns:a16="http://schemas.microsoft.com/office/drawing/2014/main" id="{0307B508-80F6-54E9-7452-65159344D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1466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617DB7A-BEFA-FA18-4D6D-1500642F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>
            <a:extLst>
              <a:ext uri="{FF2B5EF4-FFF2-40B4-BE49-F238E27FC236}">
                <a16:creationId xmlns:a16="http://schemas.microsoft.com/office/drawing/2014/main" id="{8980DDAC-8A5C-E35F-F3A5-7F9E479441C8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Acknowledgment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89" name="Google Shape;89;p8">
            <a:extLst>
              <a:ext uri="{FF2B5EF4-FFF2-40B4-BE49-F238E27FC236}">
                <a16:creationId xmlns:a16="http://schemas.microsoft.com/office/drawing/2014/main" id="{A9EA584D-6A17-6C69-F7AB-E8829CBC7AAC}"/>
              </a:ext>
            </a:extLst>
          </p:cNvPr>
          <p:cNvSpPr/>
          <p:nvPr/>
        </p:nvSpPr>
        <p:spPr>
          <a:xfrm>
            <a:off x="579560" y="1757806"/>
            <a:ext cx="10741231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●"/>
            </a:pPr>
            <a:r>
              <a:rPr lang="en-US" sz="18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authors would like to thank project IGrid funded by RDI, Kathmandu University for providing access to the smart meter data.</a:t>
            </a:r>
          </a:p>
        </p:txBody>
      </p:sp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3CD7050E-94D4-0726-72D4-D93AF3D9585F}"/>
              </a:ext>
            </a:extLst>
          </p:cNvPr>
          <p:cNvSpPr/>
          <p:nvPr/>
        </p:nvSpPr>
        <p:spPr>
          <a:xfrm>
            <a:off x="11874706" y="6517935"/>
            <a:ext cx="123794" cy="1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>
            <a:extLst>
              <a:ext uri="{FF2B5EF4-FFF2-40B4-BE49-F238E27FC236}">
                <a16:creationId xmlns:a16="http://schemas.microsoft.com/office/drawing/2014/main" id="{9D4B9546-1A00-DC74-926E-8CE922EA211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>
            <a:extLst>
              <a:ext uri="{FF2B5EF4-FFF2-40B4-BE49-F238E27FC236}">
                <a16:creationId xmlns:a16="http://schemas.microsoft.com/office/drawing/2014/main" id="{6ADE2074-0F47-E7D0-5B05-9D3348081984}"/>
              </a:ext>
            </a:extLst>
          </p:cNvPr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8" title="ceel_logo.png">
            <a:extLst>
              <a:ext uri="{FF2B5EF4-FFF2-40B4-BE49-F238E27FC236}">
                <a16:creationId xmlns:a16="http://schemas.microsoft.com/office/drawing/2014/main" id="{0307B508-80F6-54E9-7452-65159344D1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4689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8eb86bf3_3_26"/>
          <p:cNvSpPr/>
          <p:nvPr/>
        </p:nvSpPr>
        <p:spPr>
          <a:xfrm>
            <a:off x="0" y="362901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190"/>
              <a:buFont typeface="Montserrat"/>
              <a:buNone/>
            </a:pPr>
            <a:r>
              <a:rPr lang="en-US" sz="319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6. References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0" name="Google Shape;100;g3be8eb86bf3_3_26"/>
          <p:cNvSpPr/>
          <p:nvPr/>
        </p:nvSpPr>
        <p:spPr>
          <a:xfrm>
            <a:off x="961784" y="6555579"/>
            <a:ext cx="10265400" cy="1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Montserrat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KHWOPA CEEL 2026</a:t>
            </a:r>
            <a:endParaRPr sz="1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1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Montserrat"/>
              <a:buNone/>
            </a:pP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be8eb86bf3_3_26"/>
          <p:cNvSpPr/>
          <p:nvPr/>
        </p:nvSpPr>
        <p:spPr>
          <a:xfrm>
            <a:off x="11884228" y="6517935"/>
            <a:ext cx="1143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be8eb86bf3_3_26"/>
          <p:cNvSpPr txBox="1">
            <a:spLocks noGrp="1"/>
          </p:cNvSpPr>
          <p:nvPr>
            <p:ph type="sldNum" idx="12"/>
          </p:nvPr>
        </p:nvSpPr>
        <p:spPr>
          <a:xfrm>
            <a:off x="11826240" y="651510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be8eb86bf3_3_26"/>
          <p:cNvSpPr txBox="1"/>
          <p:nvPr/>
        </p:nvSpPr>
        <p:spPr>
          <a:xfrm>
            <a:off x="1061550" y="1035875"/>
            <a:ext cx="10018248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[1]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ThingsBoard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Open-source IoT platform. https://thingsboard.io/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[2] Kaa IoT. Smart metering solutions. https://www.kaaiot.com/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[3]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Oakter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8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OakMeter</a:t>
            </a: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energy monitoring system. https://oakter.com/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[4] IAMMETER API Documentation. https://www.iammeter.com/docs/system-api</a:t>
            </a:r>
            <a:endParaRPr lang="en-US" sz="1800" dirty="0"/>
          </a:p>
        </p:txBody>
      </p:sp>
      <p:pic>
        <p:nvPicPr>
          <p:cNvPr id="105" name="Google Shape;105;g3be8eb86bf3_3_26" title="ceel_logo.png"/>
          <p:cNvPicPr preferRelativeResize="0"/>
          <p:nvPr/>
        </p:nvPicPr>
        <p:blipFill rotWithShape="1">
          <a:blip r:embed="rId3">
            <a:alphaModFix/>
          </a:blip>
          <a:srcRect l="10549" r="10542"/>
          <a:stretch/>
        </p:blipFill>
        <p:spPr>
          <a:xfrm>
            <a:off x="11079798" y="158477"/>
            <a:ext cx="918702" cy="91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0B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3873801" y="3107647"/>
            <a:ext cx="4441349" cy="6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80"/>
              <a:buFont typeface="Montserrat"/>
              <a:buNone/>
            </a:pPr>
            <a:r>
              <a:rPr lang="en-US" sz="478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YOU! </a:t>
            </a:r>
            <a:endParaRPr sz="1800" b="1" i="0" u="none" strike="noStrike" cap="none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1036</Words>
  <Application>Microsoft Office PowerPoint</Application>
  <PresentationFormat>Widescreen</PresentationFormat>
  <Paragraphs>211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Montserrat</vt:lpstr>
      <vt:lpstr>Noto Sans Symbols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Saugat Singh</dc:creator>
  <cp:lastModifiedBy>sadit rasaili</cp:lastModifiedBy>
  <cp:revision>72</cp:revision>
  <dcterms:created xsi:type="dcterms:W3CDTF">2023-10-12T01:13:00Z</dcterms:created>
  <dcterms:modified xsi:type="dcterms:W3CDTF">2026-02-23T15:26:25Z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A0382EAE0AF447C0B59A4585B5602F6B_12</vt:lpwstr>
  </property>
  <property fmtid="{D5CDD505-2E9C-101B-9397-08002B2CF9AE}" pid="3" name="KSOProductBuildVer">
    <vt:lpwstr>1033-12.2.0.13215</vt:lpwstr>
  </property>
</Properties>
</file>